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37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5D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8E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B8C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D4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B8C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F8E99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Dining</c:v>
                  </c:pt>
                  <c:pt idx="1">
                    <c:v>Cafes</c:v>
                  </c:pt>
                  <c:pt idx="2">
                    <c:v>Delivery</c:v>
                  </c:pt>
                  <c:pt idx="3">
                    <c:v>Desserts</c:v>
                  </c:pt>
                  <c:pt idx="4">
                    <c:v>Drinks &amp; nightlife</c:v>
                  </c:pt>
                  <c:pt idx="5">
                    <c:v>Buffet</c:v>
                  </c:pt>
                  <c:pt idx="6">
                    <c:v>Pubs &amp; bars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7254</c:v>
                </c:pt>
                <c:pt idx="1">
                  <c:v>3972</c:v>
                </c:pt>
                <c:pt idx="2">
                  <c:v>2548</c:v>
                </c:pt>
                <c:pt idx="3">
                  <c:v>1623</c:v>
                </c:pt>
                <c:pt idx="4">
                  <c:v>1058</c:v>
                </c:pt>
                <c:pt idx="5">
                  <c:v>877</c:v>
                </c:pt>
                <c:pt idx="6">
                  <c:v>456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5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Votes</c:v>
                </c:pt>
              </c:strCache>
            </c:strRef>
          </c:tx>
          <c:spPr>
            <a:solidFill>
              <a:srgbClr val="E23744"/>
            </a:solidFill>
            <a:ln w="38100" cap="flat">
              <a:solidFill>
                <a:srgbClr val="E237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3744"/>
              </a:solidFill>
              <a:ln w="9525" cap="flat">
                <a:solidFill>
                  <a:srgbClr val="E237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Buffet</c:v>
                  </c:pt>
                  <c:pt idx="1">
                    <c:v>Cafes</c:v>
                  </c:pt>
                  <c:pt idx="2">
                    <c:v>Delivery</c:v>
                  </c:pt>
                  <c:pt idx="3">
                    <c:v>Desserts</c:v>
                  </c:pt>
                  <c:pt idx="4">
                    <c:v>Dining</c:v>
                  </c:pt>
                  <c:pt idx="5">
                    <c:v>Drinks &amp; nightlife</c:v>
                  </c:pt>
                  <c:pt idx="6">
                    <c:v>Pubs &amp; bars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22400</c:v>
                </c:pt>
                <c:pt idx="1">
                  <c:v>58600</c:v>
                </c:pt>
                <c:pt idx="2">
                  <c:v>34200</c:v>
                </c:pt>
                <c:pt idx="3">
                  <c:v>18900</c:v>
                </c:pt>
                <c:pt idx="4">
                  <c:v>187400</c:v>
                </c:pt>
                <c:pt idx="5">
                  <c:v>12800</c:v>
                </c:pt>
                <c:pt idx="6">
                  <c:v>8300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5F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F5B8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B8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8E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D6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237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1C2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000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&lt;2.5</c:v>
                  </c:pt>
                  <c:pt idx="1">
                    <c:v>2.5-3.0</c:v>
                  </c:pt>
                  <c:pt idx="2">
                    <c:v>3.0-3.5</c:v>
                  </c:pt>
                  <c:pt idx="3">
                    <c:v>3.5-4.0</c:v>
                  </c:pt>
                  <c:pt idx="4">
                    <c:v>4.0-4.5</c:v>
                  </c:pt>
                  <c:pt idx="5">
                    <c:v>4.5-5.0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840</c:v>
                </c:pt>
                <c:pt idx="2">
                  <c:v>3200</c:v>
                </c:pt>
                <c:pt idx="3">
                  <c:v>8900</c:v>
                </c:pt>
                <c:pt idx="4">
                  <c:v>6100</c:v>
                </c:pt>
                <c:pt idx="5">
                  <c:v>1200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5F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Couples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₹150</c:v>
                  </c:pt>
                  <c:pt idx="1">
                    <c:v>₹200</c:v>
                  </c:pt>
                  <c:pt idx="2">
                    <c:v>₹300</c:v>
                  </c:pt>
                  <c:pt idx="3">
                    <c:v>₹400</c:v>
                  </c:pt>
                  <c:pt idx="4">
                    <c:v>₹500</c:v>
                  </c:pt>
                  <c:pt idx="5">
                    <c:v>₹600</c:v>
                  </c:pt>
                  <c:pt idx="6">
                    <c:v>₹700</c:v>
                  </c:pt>
                  <c:pt idx="7">
                    <c:v>₹800</c:v>
                  </c:pt>
                  <c:pt idx="8">
                    <c:v>₹1000+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280</c:v>
                </c:pt>
                <c:pt idx="1">
                  <c:v>1640</c:v>
                </c:pt>
                <c:pt idx="2">
                  <c:v>4800</c:v>
                </c:pt>
                <c:pt idx="3">
                  <c:v>3100</c:v>
                </c:pt>
                <c:pt idx="4">
                  <c:v>3900</c:v>
                </c:pt>
                <c:pt idx="5">
                  <c:v>2400</c:v>
                </c:pt>
                <c:pt idx="6">
                  <c:v>1800</c:v>
                </c:pt>
                <c:pt idx="7">
                  <c:v>2900</c:v>
                </c:pt>
                <c:pt idx="8">
                  <c:v>820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5F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 Orders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Median Rating</c:v>
                  </c:pt>
                  <c:pt idx="1">
                    <c:v>Average Rating</c:v>
                  </c:pt>
                  <c:pt idx="2">
                    <c:v>Top Quartile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3.9</c:v>
                </c:pt>
                <c:pt idx="1">
                  <c:v>3.85</c:v>
                </c:pt>
                <c:pt idx="2">
                  <c:v>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Offline Orders</c:v>
                </c:pt>
              </c:strCache>
            </c:strRef>
          </c:tx>
          <c:spPr>
            <a:solidFill>
              <a:srgbClr val="3344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Median Rating</c:v>
                  </c:pt>
                  <c:pt idx="1">
                    <c:v>Average Rating</c:v>
                  </c:pt>
                  <c:pt idx="2">
                    <c:v>Top Quartile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3.5</c:v>
                </c:pt>
                <c:pt idx="1">
                  <c:v>3.42</c:v>
                </c:pt>
                <c:pt idx="2">
                  <c:v>3.9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5F5F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 Orders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Buffet</c:v>
                  </c:pt>
                  <c:pt idx="1">
                    <c:v>Cafes</c:v>
                  </c:pt>
                  <c:pt idx="2">
                    <c:v>Delivery</c:v>
                  </c:pt>
                  <c:pt idx="3">
                    <c:v>Desserts</c:v>
                  </c:pt>
                  <c:pt idx="4">
                    <c:v>Dining</c:v>
                  </c:pt>
                  <c:pt idx="5">
                    <c:v>Drinks</c:v>
                  </c:pt>
                  <c:pt idx="6">
                    <c:v>Pubs &amp; bars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312</c:v>
                </c:pt>
                <c:pt idx="1">
                  <c:v>2980</c:v>
                </c:pt>
                <c:pt idx="2">
                  <c:v>2100</c:v>
                </c:pt>
                <c:pt idx="3">
                  <c:v>1210</c:v>
                </c:pt>
                <c:pt idx="4">
                  <c:v>3420</c:v>
                </c:pt>
                <c:pt idx="5">
                  <c:v>630</c:v>
                </c:pt>
                <c:pt idx="6">
                  <c:v>280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Offline Orders</c:v>
                </c:pt>
              </c:strCache>
            </c:strRef>
          </c:tx>
          <c:spPr>
            <a:solidFill>
              <a:srgbClr val="3344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Buffet</c:v>
                  </c:pt>
                  <c:pt idx="1">
                    <c:v>Cafes</c:v>
                  </c:pt>
                  <c:pt idx="2">
                    <c:v>Delivery</c:v>
                  </c:pt>
                  <c:pt idx="3">
                    <c:v>Desserts</c:v>
                  </c:pt>
                  <c:pt idx="4">
                    <c:v>Dining</c:v>
                  </c:pt>
                  <c:pt idx="5">
                    <c:v>Drinks</c:v>
                  </c:pt>
                  <c:pt idx="6">
                    <c:v>Pubs &amp; bars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565</c:v>
                </c:pt>
                <c:pt idx="1">
                  <c:v>992</c:v>
                </c:pt>
                <c:pt idx="2">
                  <c:v>448</c:v>
                </c:pt>
                <c:pt idx="3">
                  <c:v>413</c:v>
                </c:pt>
                <c:pt idx="4">
                  <c:v>3834</c:v>
                </c:pt>
                <c:pt idx="5">
                  <c:v>428</c:v>
                </c:pt>
                <c:pt idx="6">
                  <c:v>176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5F5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097280" cy="1097280"/>
          </a:xfrm>
          <a:prstGeom prst="ellipse">
            <a:avLst/>
          </a:prstGeom>
          <a:solidFill>
            <a:srgbClr val="E2374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5836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502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ZOMATO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737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600200"/>
            <a:ext cx="8412480" cy="27432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78308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Restaurant Intelligence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65760" y="2606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Patterns in Food, Ratings &amp; Ordering Trends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2452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53312" y="4206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51K+ Records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22452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96512" y="4206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Deep-Dive Questions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224528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39712" y="4206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Seaborn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Nitin Tiwari   |   Reference: The iScale (YouTube)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9A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8346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834640" cy="91440"/>
          </a:xfrm>
          <a:prstGeom prst="rect">
            <a:avLst/>
          </a:prstGeom>
          <a:solidFill>
            <a:srgbClr val="E237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23444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176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1480" y="265176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restaurant data with 51,000+ records covering name, online_order, book_table, rate, votes, cost and restaurant type.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005840"/>
            <a:ext cx="28346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005840"/>
            <a:ext cx="2834640" cy="91440"/>
          </a:xfrm>
          <a:prstGeom prst="rect">
            <a:avLst/>
          </a:prstGeom>
          <a:solidFill>
            <a:srgbClr val="E2374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234440"/>
            <a:ext cx="822960" cy="8229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176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429000" y="265176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behavior, restaurant preferences, spending habits and rating patterns to generate actionable business insights.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63640" y="1005840"/>
            <a:ext cx="28346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63640" y="1005840"/>
            <a:ext cx="2834640" cy="91440"/>
          </a:xfrm>
          <a:prstGeom prst="rect">
            <a:avLst/>
          </a:prstGeom>
          <a:solidFill>
            <a:srgbClr val="E2374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234440"/>
            <a:ext cx="822960" cy="8229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176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446520" y="265176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NumPy, Matplotlib, Seaborn — with visualizations including bar plots, histograms, box plots and heatmaps.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SNAPSHOT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011680" cy="73152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51K+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960120"/>
            <a:ext cx="201168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960120"/>
            <a:ext cx="2011680" cy="73152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097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56032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960120"/>
            <a:ext cx="201168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960120"/>
            <a:ext cx="2011680" cy="73152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97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4.6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0" y="960120"/>
            <a:ext cx="201168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960120"/>
            <a:ext cx="2011680" cy="73152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1097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₹150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13232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Avg Cost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26517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COLUMNS IN THE DATASET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17520"/>
          <a:ext cx="8595360" cy="187452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5669280"/>
              </a:tblGrid>
              <a:tr h="2343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Column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3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Type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3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Description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23744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9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45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9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online_order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Accepts online orders (Yes/No)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9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Accepts table booking (Yes/No)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45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9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rating (out of 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9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number of votes received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45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9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approx_cost(for two)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Approximate cost for two people (₹)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13E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9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listed_in(type)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 category (Dining, Cafes, etc.)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  —  Restaurant Type Distribution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914400"/>
            <a:ext cx="3154680" cy="38404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914400"/>
            <a:ext cx="3154680" cy="73152"/>
          </a:xfrm>
          <a:prstGeom prst="rect">
            <a:avLst/>
          </a:prstGeom>
          <a:solidFill>
            <a:srgbClr val="E237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097280"/>
            <a:ext cx="868680" cy="868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52160" y="2057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852160" y="2514600"/>
            <a:ext cx="2971800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 restaurants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 with the highest customer preference, followed by Cafes.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943600" y="3703320"/>
            <a:ext cx="2788920" cy="27432"/>
          </a:xfrm>
          <a:prstGeom prst="rect">
            <a:avLst/>
          </a:prstGeom>
          <a:solidFill>
            <a:srgbClr val="334466"/>
          </a:solidFill>
          <a:ln/>
        </p:spPr>
      </p:sp>
      <p:sp>
        <p:nvSpPr>
          <p:cNvPr id="12" name="Text 8"/>
          <p:cNvSpPr/>
          <p:nvPr/>
        </p:nvSpPr>
        <p:spPr>
          <a:xfrm>
            <a:off x="5852160" y="3794760"/>
            <a:ext cx="29718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Customers prefer full-service dining. Cafes rank second, catering to the urban crowd seeking casual meals.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 —  Votes Received by Restaurant Type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005840"/>
            <a:ext cx="2834640" cy="1097280"/>
          </a:xfrm>
          <a:prstGeom prst="rect">
            <a:avLst/>
          </a:prstGeom>
          <a:solidFill>
            <a:srgbClr val="E2374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80760" y="107899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#1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03720" y="1078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08076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187K votes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989320" y="2240280"/>
            <a:ext cx="2834640" cy="10972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80760" y="231343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03720" y="2313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80760" y="28620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58.6K votes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989320" y="3474720"/>
            <a:ext cx="2834640" cy="10972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80760" y="354787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903720" y="3547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080760" y="4096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34.2K votes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943600" y="4736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Dining category is the clear leader in customer engagement.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 —  Rating Distribution Across Restaurants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914400"/>
            <a:ext cx="3154680" cy="3840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Shape 4"/>
          <p:cNvSpPr/>
          <p:nvPr/>
        </p:nvSpPr>
        <p:spPr>
          <a:xfrm>
            <a:off x="5760720" y="914400"/>
            <a:ext cx="3154680" cy="73152"/>
          </a:xfrm>
          <a:prstGeom prst="rect">
            <a:avLst/>
          </a:prstGeom>
          <a:solidFill>
            <a:srgbClr val="E237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777240" cy="777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52160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Rating Insights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51460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36208" y="2487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ratings fall in 3.5 – 4.0 range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044952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36208" y="3017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restaurants rate below 2.5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3575304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236208" y="35478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deliver average-to-good experience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4105656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236208" y="40782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(4.5+) restaurants are rare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 —  Couples' Average Spending Patterns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914400"/>
            <a:ext cx="2834640" cy="164592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7" name="Text 4"/>
          <p:cNvSpPr/>
          <p:nvPr/>
        </p:nvSpPr>
        <p:spPr>
          <a:xfrm>
            <a:off x="608076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80760" y="1325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₹300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6080760" y="2084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couple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2743200"/>
            <a:ext cx="2834640" cy="20116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8"/>
          <p:cNvSpPr/>
          <p:nvPr/>
        </p:nvSpPr>
        <p:spPr>
          <a:xfrm>
            <a:off x="6080760" y="28346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080760" y="3246120"/>
            <a:ext cx="26517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 show strong preference for budget-friendly options. Restaurants in the ₹300–₹500 bracket receive the highest footfall from couples ordering online.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  —  Online vs Offline Order Ratings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154680" cy="169164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0" y="11155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Online Orders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52160" y="14813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Avg: 3.9 ★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852160" y="1993392"/>
            <a:ext cx="29718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customer satisfaction. Curated menus &amp; faster fulfilment drive better reviews.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60720" y="2926080"/>
            <a:ext cx="3154680" cy="1691640"/>
          </a:xfrm>
          <a:prstGeom prst="rect">
            <a:avLst/>
          </a:prstGeom>
          <a:solidFill>
            <a:srgbClr val="334466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30358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Offline Orders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52160" y="34015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0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Avg: 3.5 ★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852160" y="3913632"/>
            <a:ext cx="29718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avg ratings — in-person experience varies. Service speed &amp; ambience affect scores.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760720" y="47548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Online orders consistently receive higher ratings than offline orders.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Q6  —  Online vs Offline Preference by Type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80760" y="914400"/>
            <a:ext cx="2834640" cy="3840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Shape 4"/>
          <p:cNvSpPr/>
          <p:nvPr/>
        </p:nvSpPr>
        <p:spPr>
          <a:xfrm>
            <a:off x="6080760" y="914400"/>
            <a:ext cx="2834640" cy="73152"/>
          </a:xfrm>
          <a:prstGeom prst="rect">
            <a:avLst/>
          </a:prstGeom>
          <a:solidFill>
            <a:srgbClr val="E237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097280"/>
            <a:ext cx="822960" cy="822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220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172200" y="2487168"/>
            <a:ext cx="2651760" cy="6858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7"/>
          <p:cNvSpPr/>
          <p:nvPr/>
        </p:nvSpPr>
        <p:spPr>
          <a:xfrm>
            <a:off x="6263640" y="2514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Dining →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263640" y="2761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OFFLINE — customers prefer in-person dining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172200" y="3291840"/>
            <a:ext cx="2651760" cy="6858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4" name="Text 10"/>
          <p:cNvSpPr/>
          <p:nvPr/>
        </p:nvSpPr>
        <p:spPr>
          <a:xfrm>
            <a:off x="6263640" y="3319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Cafes →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26364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ONLINE — urban crowd orders to go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72200" y="4096512"/>
            <a:ext cx="2651760" cy="6858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Text 13"/>
          <p:cNvSpPr/>
          <p:nvPr/>
        </p:nvSpPr>
        <p:spPr>
          <a:xfrm>
            <a:off x="6263640" y="41239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 →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263640" y="4370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Predominantly ONLINE as expected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 &amp;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594360" cy="11430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2801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69848"/>
            <a:ext cx="34290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 dominates — majority of customers prefer full-service restaurants over cafes or delivery.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240280"/>
            <a:ext cx="4206240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240280"/>
            <a:ext cx="594360" cy="11430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2560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350008"/>
            <a:ext cx="34290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 also leads in votes — highest engagement &amp; social proof comes from dine-in category.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520440"/>
            <a:ext cx="4206240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520440"/>
            <a:ext cx="594360" cy="11430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38404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630168"/>
            <a:ext cx="34290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restaurants cluster at 3.5–4.0 stars — quality is consistent but excellence is rare.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960120"/>
            <a:ext cx="4206240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960120"/>
            <a:ext cx="594360" cy="11430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2801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4960" y="1069848"/>
            <a:ext cx="34290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 is the sweet spot — couples favor budget-friendly restaurants around ₹300 per outing.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240280"/>
            <a:ext cx="4206240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240280"/>
            <a:ext cx="594360" cy="11430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560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2350008"/>
            <a:ext cx="34290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orders = higher ratings — digital ordering improves experience and customer satisfaction.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520440"/>
            <a:ext cx="4206240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520440"/>
            <a:ext cx="594360" cy="11430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8404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3630168"/>
            <a:ext cx="34290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determines mode — diners visit; cafe &amp; delivery customers go online.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E237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38404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ZOMATO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82880" y="4407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0" y="914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5029200" y="1965960"/>
            <a:ext cx="2926080" cy="4572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0" y="2103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3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Nitin Tiwari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114800" y="26060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14800" y="3154680"/>
            <a:ext cx="4754880" cy="13716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8"/>
          <p:cNvSpPr/>
          <p:nvPr/>
        </p:nvSpPr>
        <p:spPr>
          <a:xfrm>
            <a:off x="4206240" y="3246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 &amp; Guidance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06240" y="3639312"/>
            <a:ext cx="457200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Channel: The iScale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Python · Pandas · NumPy · Matplotlib · Seaborn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Data Analysis</dc:title>
  <dc:subject>PptxGenJS Presentation</dc:subject>
  <dc:creator>Nitin Tiwari</dc:creator>
  <cp:lastModifiedBy>Nitin Tiwari</cp:lastModifiedBy>
  <cp:revision>1</cp:revision>
  <dcterms:created xsi:type="dcterms:W3CDTF">2026-04-16T02:08:54Z</dcterms:created>
  <dcterms:modified xsi:type="dcterms:W3CDTF">2026-04-16T02:08:54Z</dcterms:modified>
</cp:coreProperties>
</file>